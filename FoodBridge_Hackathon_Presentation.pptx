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-548640"/>
            <a:ext cx="4480560" cy="4480560"/>
          </a:xfrm>
          <a:prstGeom prst="ellipse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20040"/>
            <a:ext cx="2834640" cy="2834640"/>
          </a:xfrm>
          <a:prstGeom prst="ellipse">
            <a:avLst/>
          </a:prstGeom>
          <a:solidFill>
            <a:srgbClr val="BE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02368" y="987552"/>
            <a:ext cx="1508760" cy="1508760"/>
          </a:xfrm>
          <a:prstGeom prst="ellipse">
            <a:avLst/>
          </a:prstGeom>
          <a:solidFill>
            <a:srgbClr val="FFE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1207008"/>
            <a:ext cx="320040" cy="320040"/>
          </a:xfrm>
          <a:prstGeom prst="ellipse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16768" y="1664208"/>
            <a:ext cx="256032" cy="256032"/>
          </a:xfrm>
          <a:prstGeom prst="ellipse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14432" y="1874519"/>
            <a:ext cx="201168" cy="201168"/>
          </a:xfrm>
          <a:prstGeom prst="ellipse">
            <a:avLst/>
          </a:prstGeom>
          <a:solidFill>
            <a:srgbClr val="D15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8368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EE080"/>
                </a:solidFill>
                <a:latin typeface="Aptos"/>
              </a:rPr>
              <a:t>HACKATHON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71323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FoodBridge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6400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0" i="0">
                <a:solidFill>
                  <a:srgbClr val="DBEDDC"/>
                </a:solidFill>
                <a:latin typeface="Aptos"/>
              </a:rPr>
              <a:t>Connecting surplus food with people who need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914400" cy="64008"/>
          </a:xfrm>
          <a:prstGeom prst="rect">
            <a:avLst/>
          </a:prstGeom>
          <a:solidFill>
            <a:srgbClr val="BE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A smart food donation and pickup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63440"/>
            <a:ext cx="6858000" cy="1234440"/>
          </a:xfrm>
          <a:prstGeom prst="roundRect">
            <a:avLst/>
          </a:prstGeom>
          <a:solidFill>
            <a:srgbClr val="25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E080"/>
                </a:solidFill>
                <a:latin typeface="Aptos"/>
              </a:rP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30368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Add team member names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892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E080"/>
                </a:solidFill>
                <a:latin typeface="Aptos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230368"/>
            <a:ext cx="2514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Food waste reduction • Community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BEE08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08553"/>
                </a:solidFill>
                <a:latin typeface="Aptos"/>
              </a:rPr>
              <a:t>FOODBRIDGE  / 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1945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308553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8372A"/>
                </a:solidFill>
                <a:latin typeface="Aptos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7786C"/>
                </a:solidFill>
                <a:latin typeface="Aptos"/>
              </a:rPr>
              <a:t>Good food is often available while nearby communities still face food insecurity.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658368" cy="50292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54864" cy="1746504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8372A"/>
                </a:solidFill>
                <a:latin typeface="Aptos"/>
              </a:rPr>
              <a:t>01  Surplus goes unused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F3F35"/>
                </a:solidFill>
                <a:latin typeface="Aptos"/>
              </a:rPr>
              <a:t>Restaurants, shops, event organizers and households may have edible extra food.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75688"/>
            <a:ext cx="54864" cy="1746504"/>
          </a:xfrm>
          <a:prstGeom prst="rect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8372A"/>
                </a:solidFill>
                <a:latin typeface="Aptos"/>
              </a:rPr>
              <a:t>02  Coordination is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32888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F3F35"/>
                </a:solidFill>
                <a:latin typeface="Aptos"/>
              </a:rPr>
              <a:t>Donors and NGOs need a clear way to discover offers, agree on quantity and arrange pickup.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075688"/>
            <a:ext cx="54864" cy="1746504"/>
          </a:xfrm>
          <a:prstGeom prst="rect">
            <a:avLst/>
          </a:prstGeom>
          <a:solidFill>
            <a:srgbClr val="D15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13055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8372A"/>
                </a:solidFill>
                <a:latin typeface="Aptos"/>
              </a:rPr>
              <a:t>03  Time &amp; safety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532888"/>
            <a:ext cx="30449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F3F35"/>
                </a:solidFill>
                <a:latin typeface="Aptos"/>
              </a:rPr>
              <a:t>Food has expiry windows, allergens and pickup constraints that must be communicated.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43484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08553"/>
                </a:solidFill>
                <a:latin typeface="Aptos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80060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18372A"/>
                </a:solidFill>
                <a:latin typeface="Aptos"/>
              </a:rPr>
              <a:t>Less edible food wasted  +  faster access to meals  +  clearer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7786C"/>
                </a:solidFill>
                <a:latin typeface="Aptos"/>
              </a:rPr>
              <a:t>The opportunity: turn scattered food donations into a coordinated, trackable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786C"/>
                </a:solidFill>
                <a:latin typeface="Aptos"/>
              </a:rPr>
              <a:t>LESS WASTE. MORE NOURISHMENT.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08553"/>
                </a:solidFill>
                <a:latin typeface="Aptos"/>
              </a:rPr>
              <a:t>FOODBRIDGE  / 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1945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308553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8372A"/>
                </a:solidFill>
                <a:latin typeface="Aptos"/>
              </a:rP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7786C"/>
                </a:solidFill>
                <a:latin typeface="Aptos"/>
              </a:rPr>
              <a:t>One shared marketplace for donors, NGOs and administrators.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658368" cy="50292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00600" y="2057400"/>
            <a:ext cx="2514600" cy="2514600"/>
          </a:xfrm>
          <a:prstGeom prst="ellipse">
            <a:avLst/>
          </a:prstGeom>
          <a:solidFill>
            <a:srgbClr val="18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2697480"/>
            <a:ext cx="1828800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Food
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67128"/>
            <a:ext cx="54864" cy="923544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8372A"/>
                </a:solidFill>
                <a:latin typeface="Aptos"/>
              </a:rPr>
              <a:t>Donors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24328"/>
            <a:ext cx="267919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F3F35"/>
                </a:solidFill>
                <a:latin typeface="Aptos"/>
              </a:rPr>
              <a:t>Publish food, quantity, expiry and pickup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057400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2167128"/>
            <a:ext cx="54864" cy="923544"/>
          </a:xfrm>
          <a:prstGeom prst="rect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221992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8372A"/>
                </a:solidFill>
                <a:latin typeface="Aptos"/>
              </a:rPr>
              <a:t>NGOs &amp; kitchens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624328"/>
            <a:ext cx="267919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F3F35"/>
                </a:solidFill>
                <a:latin typeface="Aptos"/>
              </a:rPr>
              <a:t>Find listings and request a pickup.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87368"/>
            <a:ext cx="54864" cy="923544"/>
          </a:xfrm>
          <a:prstGeom prst="rect">
            <a:avLst/>
          </a:prstGeom>
          <a:solidFill>
            <a:srgbClr val="BE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42231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8372A"/>
                </a:solidFill>
                <a:latin typeface="Aptos"/>
              </a:rPr>
              <a:t>Smart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44568"/>
            <a:ext cx="267919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F3F35"/>
                </a:solidFill>
                <a:latin typeface="Aptos"/>
              </a:rPr>
              <a:t>Approve requests and reserve quantities.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977639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4087368"/>
            <a:ext cx="54864" cy="923544"/>
          </a:xfrm>
          <a:prstGeom prst="rect">
            <a:avLst/>
          </a:prstGeom>
          <a:solidFill>
            <a:srgbClr val="D15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4142231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8372A"/>
                </a:solidFill>
                <a:latin typeface="Aptos"/>
              </a:rPr>
              <a:t>Trust &amp;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4544568"/>
            <a:ext cx="267919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F3F35"/>
                </a:solidFill>
                <a:latin typeface="Aptos"/>
              </a:rPr>
              <a:t>Verified NGO roles, reports and live summaries.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2633472"/>
            <a:ext cx="1005840" cy="155448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15200" y="2633472"/>
            <a:ext cx="1051560" cy="155448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94760" y="4023360"/>
            <a:ext cx="1097280" cy="411480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3760" y="4023360"/>
            <a:ext cx="1143000" cy="411480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51960" y="5074920"/>
            <a:ext cx="2057400" cy="292608"/>
          </a:xfrm>
          <a:prstGeom prst="roundRect">
            <a:avLst/>
          </a:prstGeom>
          <a:solidFill>
            <a:srgbClr val="E0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5088636"/>
            <a:ext cx="200253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308553"/>
                </a:solidFill>
                <a:latin typeface="Aptos"/>
              </a:rPr>
              <a:t>ROLE-BASED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5074920"/>
            <a:ext cx="1874519" cy="292608"/>
          </a:xfrm>
          <a:prstGeom prst="roundRect">
            <a:avLst/>
          </a:prstGeom>
          <a:solidFill>
            <a:srgbClr val="FF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088636"/>
            <a:ext cx="1819655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91591C"/>
                </a:solidFill>
                <a:latin typeface="Aptos"/>
              </a:rPr>
              <a:t>FOOD-SAFETY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8372A"/>
                </a:solidFill>
                <a:latin typeface="Aptos"/>
              </a:rPr>
              <a:t>Unique approach: manage the full journey—not just the listing—from discovery to confirmed handoff.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786C"/>
                </a:solidFill>
                <a:latin typeface="Aptos"/>
              </a:rPr>
              <a:t>LESS WASTE. MORE NOURISHMENT.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08553"/>
                </a:solidFill>
                <a:latin typeface="Aptos"/>
              </a:rPr>
              <a:t>FOODBRIDGE  / 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1945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308553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8372A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7786C"/>
                </a:solidFill>
                <a:latin typeface="Aptos"/>
              </a:rPr>
              <a:t>A simple, traceable journey from surplus food to successful pickup.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658368" cy="50292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21945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19" y="1920240"/>
            <a:ext cx="658368" cy="658368"/>
          </a:xfrm>
          <a:prstGeom prst="ellipse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2029968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889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8372A"/>
                </a:solidFill>
                <a:latin typeface="Aptos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18688"/>
            <a:ext cx="1828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2F3F35"/>
                </a:solidFill>
                <a:latin typeface="Aptos"/>
              </a:rPr>
              <a:t>Donor adds food, servings,
expiry and pickup window.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71215" y="3154680"/>
            <a:ext cx="566929" cy="0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90087" y="289864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308553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240280"/>
            <a:ext cx="21945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6824" y="1920240"/>
            <a:ext cx="658368" cy="658368"/>
          </a:xfrm>
          <a:prstGeom prst="ellipse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2029968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7889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8372A"/>
                </a:solidFill>
                <a:latin typeface="Aptos"/>
              </a:rP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218688"/>
            <a:ext cx="1828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2F3F35"/>
                </a:solidFill>
                <a:latin typeface="Aptos"/>
              </a:rPr>
              <a:t>NGO searches by city,
food type and availability.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720" y="3154680"/>
            <a:ext cx="566928" cy="0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79592" y="289864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308553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7376" y="2240280"/>
            <a:ext cx="21945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96328" y="1920240"/>
            <a:ext cx="658368" cy="658368"/>
          </a:xfrm>
          <a:prstGeom prst="ellipse">
            <a:avLst/>
          </a:prstGeom>
          <a:solidFill>
            <a:srgbClr val="6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8" y="2029968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7889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8372A"/>
                </a:solidFill>
                <a:latin typeface="Aptos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218688"/>
            <a:ext cx="1828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2F3F35"/>
                </a:solidFill>
                <a:latin typeface="Aptos"/>
              </a:rPr>
              <a:t>NGO requests a quantity;
donor approves or rejects.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50224" y="3154680"/>
            <a:ext cx="566928" cy="0"/>
          </a:xfrm>
          <a:prstGeom prst="line">
            <a:avLst/>
          </a:prstGeom>
          <a:ln w="25400">
            <a:solidFill>
              <a:srgbClr val="30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69096" y="289864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308553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2240280"/>
            <a:ext cx="21945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5832" y="1920240"/>
            <a:ext cx="658368" cy="658368"/>
          </a:xfrm>
          <a:prstGeom prst="ellipse">
            <a:avLst/>
          </a:prstGeom>
          <a:solidFill>
            <a:srgbClr val="18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5832" y="2029968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27889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8372A"/>
                </a:solidFill>
                <a:latin typeface="Aptos"/>
              </a:rPr>
              <a:t>COLLECT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3218688"/>
            <a:ext cx="1828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2F3F35"/>
                </a:solidFill>
                <a:latin typeface="Aptos"/>
              </a:rPr>
              <a:t>Pickup is confirmed and
handoff is completed.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00600"/>
            <a:ext cx="10332720" cy="822960"/>
          </a:xfrm>
          <a:prstGeom prst="roundRect">
            <a:avLst/>
          </a:prstGeom>
          <a:solidFill>
            <a:srgbClr val="E0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0109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308553"/>
                </a:solidFill>
                <a:latin typeface="Aptos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983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308553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01091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8372A"/>
                </a:solidFill>
                <a:latin typeface="Aptos"/>
              </a:rPr>
              <a:t>VALIDATE &amp; FILTER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983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308553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01091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8372A"/>
                </a:solidFill>
                <a:latin typeface="Aptos"/>
              </a:rPr>
              <a:t>RESERVE QUANTITY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983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308553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010912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18372A"/>
                </a:solidFill>
                <a:latin typeface="Aptos"/>
              </a:rPr>
              <a:t>TRACK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9834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308553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010912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308553"/>
                </a:solidFill>
                <a:latin typeface="Aptos"/>
              </a:rPr>
              <a:t>IMPACT TOTALS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786C"/>
                </a:solidFill>
                <a:latin typeface="Aptos"/>
              </a:rPr>
              <a:t>Safety checks: expiry must be in the future; reserved quantities cannot exceed available stock.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786C"/>
                </a:solidFill>
                <a:latin typeface="Aptos"/>
              </a:rPr>
              <a:t>LESS WASTE. MORE NOURISHMENT.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08553"/>
                </a:solidFill>
                <a:latin typeface="Aptos"/>
              </a:rPr>
              <a:t>FOODBRIDGE  / 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1945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308553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8372A"/>
                </a:solidFill>
                <a:latin typeface="Aptos"/>
              </a:rPr>
              <a:t>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7786C"/>
                </a:solidFill>
                <a:latin typeface="Aptos"/>
              </a:rPr>
              <a:t>Built with a familiar MERN-style stack and practical validation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658368" cy="50292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337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73152" cy="1024128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93976"/>
            <a:ext cx="2834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08553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31720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React • React Router •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60904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86C"/>
                </a:solidFill>
                <a:latin typeface="Aptos"/>
              </a:rPr>
              <a:t>Responsive role-based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65960"/>
            <a:ext cx="3337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65960"/>
            <a:ext cx="73152" cy="1024128"/>
          </a:xfrm>
          <a:prstGeom prst="rect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93976"/>
            <a:ext cx="2834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F9D4C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31720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Node.js • Express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660904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86C"/>
                </a:solidFill>
                <a:latin typeface="Aptos"/>
              </a:rPr>
              <a:t>Authentication and business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3337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91839"/>
            <a:ext cx="73152" cy="1024128"/>
          </a:xfrm>
          <a:prstGeom prst="rect">
            <a:avLst/>
          </a:prstGeom>
          <a:solidFill>
            <a:srgbClr val="6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419856"/>
            <a:ext cx="2834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F994A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657599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MongoDB • Mongoose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86783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86C"/>
                </a:solidFill>
                <a:latin typeface="Aptos"/>
              </a:rPr>
              <a:t>Users, donations, requests,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291839"/>
            <a:ext cx="3337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291839"/>
            <a:ext cx="73152" cy="1024128"/>
          </a:xfrm>
          <a:prstGeom prst="rect">
            <a:avLst/>
          </a:prstGeom>
          <a:solidFill>
            <a:srgbClr val="18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419856"/>
            <a:ext cx="2834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372A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657599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JWT • bcrypt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986783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86C"/>
                </a:solidFill>
                <a:latin typeface="Aptos"/>
              </a:rPr>
              <a:t>Signed sessions and hashed passwords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965960"/>
            <a:ext cx="3429000" cy="2350008"/>
          </a:xfrm>
          <a:prstGeom prst="roundRect">
            <a:avLst/>
          </a:prstGeom>
          <a:solidFill>
            <a:srgbClr val="18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212848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EE080"/>
                </a:solidFill>
                <a:latin typeface="Aptos"/>
              </a:rPr>
              <a:t>CORE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633472"/>
            <a:ext cx="288036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Filter listings by city, type, expiry and quantity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Validate dates and required fields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Prevent duplicate active requests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Reserve stock safely during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08553"/>
                </a:solidFill>
                <a:latin typeface="Aptos"/>
              </a:rPr>
              <a:t>WHY THIS STACK?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30368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8372A"/>
                </a:solidFill>
                <a:latin typeface="Aptos"/>
              </a:rPr>
              <a:t>React keeps the UI modular; Express exposes APIs; MongoDB fits flexible donation records; validation and indexed lookups support reliable coordination.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16168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7786C"/>
                </a:solidFill>
                <a:latin typeface="Aptos"/>
              </a:rPr>
              <a:t>Complexity note: a filtered listing lookup is typically O(n) without a suitable index; indexed database filters can reduce the search work. Exact performance depends on data size and indexes.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786C"/>
                </a:solidFill>
                <a:latin typeface="Aptos"/>
              </a:rPr>
              <a:t>LESS WASTE. MORE NOURISHMENT.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08553"/>
                </a:solidFill>
                <a:latin typeface="Aptos"/>
              </a:rPr>
              <a:t>FOODBRIDGE  / 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1945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308553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8372A"/>
                </a:solidFill>
                <a:latin typeface="Aptos"/>
              </a:rPr>
              <a:t>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789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7786C"/>
                </a:solidFill>
                <a:latin typeface="Aptos"/>
              </a:rPr>
              <a:t>The project includes working flows for listing, requesting, approval and pickup completion.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658368" cy="50292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566928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57984"/>
            <a:ext cx="5212080" cy="411480"/>
          </a:xfrm>
          <a:prstGeom prst="roundRect">
            <a:avLst/>
          </a:prstGeom>
          <a:solidFill>
            <a:srgbClr val="18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4028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FoodBridge  •  Available food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761488"/>
            <a:ext cx="2103120" cy="347472"/>
          </a:xfrm>
          <a:prstGeom prst="round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43784"/>
            <a:ext cx="1737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7786C"/>
                </a:solidFill>
                <a:latin typeface="Aptos"/>
              </a:rPr>
              <a:t>Search by city…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61488"/>
            <a:ext cx="1143000" cy="347472"/>
          </a:xfrm>
          <a:prstGeom prst="roundRect">
            <a:avLst/>
          </a:prstGeom>
          <a:solidFill>
            <a:srgbClr val="E0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2843784"/>
            <a:ext cx="1005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308553"/>
                </a:solidFill>
                <a:latin typeface="Aptos"/>
              </a:rPr>
              <a:t>Vegetarian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761488"/>
            <a:ext cx="1325880" cy="347472"/>
          </a:xfrm>
          <a:prstGeom prst="roundRect">
            <a:avLst/>
          </a:prstGeom>
          <a:solidFill>
            <a:srgbClr val="FF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843784"/>
            <a:ext cx="11704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91591C"/>
                </a:solidFill>
                <a:latin typeface="Aptos"/>
              </a:rPr>
              <a:t>Sort: expiry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310128"/>
            <a:ext cx="5074920" cy="566928"/>
          </a:xfrm>
          <a:prstGeom prst="roundRect">
            <a:avLst/>
          </a:prstGeom>
          <a:solidFill>
            <a:srgbClr val="EB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438144"/>
            <a:ext cx="310896" cy="310896"/>
          </a:xfrm>
          <a:prstGeom prst="ellipse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40156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8372A"/>
                </a:solidFill>
                <a:latin typeface="Aptos"/>
              </a:rPr>
              <a:t>Fresh meal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29000"/>
            <a:ext cx="10515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7786C"/>
                </a:solidFill>
                <a:latin typeface="Aptos"/>
              </a:rPr>
              <a:t>120 servings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308553"/>
                </a:solidFill>
                <a:latin typeface="Aptos"/>
              </a:rPr>
              <a:t>Available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023360"/>
            <a:ext cx="5074920" cy="566928"/>
          </a:xfrm>
          <a:prstGeom prst="round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151376"/>
            <a:ext cx="310896" cy="310896"/>
          </a:xfrm>
          <a:prstGeom prst="ellipse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114800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8372A"/>
                </a:solidFill>
                <a:latin typeface="Aptos"/>
              </a:rPr>
              <a:t>Bakery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142232"/>
            <a:ext cx="10515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7786C"/>
                </a:solidFill>
                <a:latin typeface="Aptos"/>
              </a:rPr>
              <a:t>45 servings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142232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91591C"/>
                </a:solidFill>
                <a:latin typeface="Aptos"/>
              </a:rPr>
              <a:t>Pickup 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4736592"/>
            <a:ext cx="5074920" cy="566928"/>
          </a:xfrm>
          <a:prstGeom prst="roundRect">
            <a:avLst/>
          </a:prstGeom>
          <a:solidFill>
            <a:srgbClr val="EB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4864607"/>
            <a:ext cx="310896" cy="310896"/>
          </a:xfrm>
          <a:prstGeom prst="ellipse">
            <a:avLst/>
          </a:prstGeom>
          <a:solidFill>
            <a:srgbClr val="6F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828031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8372A"/>
                </a:solidFill>
                <a:latin typeface="Aptos"/>
              </a:rPr>
              <a:t>Vegetable boxes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855464"/>
            <a:ext cx="10515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7786C"/>
                </a:solidFill>
                <a:latin typeface="Aptos"/>
              </a:rPr>
              <a:t>30 servings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55464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308553"/>
                </a:solidFill>
                <a:latin typeface="Aptos"/>
              </a:rPr>
              <a:t>Available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011680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308553"/>
                </a:solidFill>
                <a:latin typeface="Aptos"/>
              </a:rPr>
              <a:t>WHAT THE DEMO SHOWS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423160"/>
            <a:ext cx="45720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2532888"/>
            <a:ext cx="54864" cy="649224"/>
          </a:xfrm>
          <a:prstGeom prst="rect">
            <a:avLst/>
          </a:prstGeom>
          <a:solidFill>
            <a:srgbClr val="30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2587752"/>
            <a:ext cx="4206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Role-based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2990088"/>
            <a:ext cx="4187952" cy="1828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F3F35"/>
                </a:solidFill>
                <a:latin typeface="Aptos"/>
              </a:rPr>
              <a:t>Donor, NGO and admin dashboards.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3456432"/>
            <a:ext cx="45720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3566160"/>
            <a:ext cx="54864" cy="649224"/>
          </a:xfrm>
          <a:prstGeom prst="rect">
            <a:avLst/>
          </a:prstGeom>
          <a:solidFill>
            <a:srgbClr val="EF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3621024"/>
            <a:ext cx="4206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Traceable pickup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023359"/>
            <a:ext cx="4187952" cy="1828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F3F35"/>
                </a:solidFill>
                <a:latin typeface="Aptos"/>
              </a:rPr>
              <a:t>Request → approval → collected → completed.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0" y="4489704"/>
            <a:ext cx="45720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4599432"/>
            <a:ext cx="54864" cy="649224"/>
          </a:xfrm>
          <a:prstGeom prst="rect">
            <a:avLst/>
          </a:prstGeom>
          <a:solidFill>
            <a:srgbClr val="18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4654296"/>
            <a:ext cx="4206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8372A"/>
                </a:solidFill>
                <a:latin typeface="Aptos"/>
              </a:rPr>
              <a:t>Impact &amp;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5056632"/>
            <a:ext cx="4187952" cy="1828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F3F35"/>
                </a:solidFill>
                <a:latin typeface="Aptos"/>
              </a:rPr>
              <a:t>Stored records power summaries, reports and CSV history.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623560"/>
            <a:ext cx="2560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7786C"/>
                </a:solidFill>
                <a:latin typeface="Aptos"/>
              </a:rPr>
              <a:t>Expected practical benefits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870448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372A"/>
                </a:solidFill>
                <a:latin typeface="Aptos"/>
              </a:rPr>
              <a:t>Less coordination friction • Better visibility • Clearer handoffs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19963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7786C"/>
                </a:solidFill>
                <a:latin typeface="Aptos"/>
              </a:rPr>
              <a:t>Illustrative UI / sample data for presentation; use live app screenshots and measured results when available.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786C"/>
                </a:solidFill>
                <a:latin typeface="Aptos"/>
              </a:rPr>
              <a:t>LESS WASTE. MORE NOURISHMENT.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E080"/>
                </a:solidFill>
                <a:latin typeface="Aptos"/>
              </a:rPr>
              <a:t>FOODBRIDGE  /  THE ROAD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From surplus to shared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BEE080"/>
                </a:solidFill>
                <a:latin typeface="Aptos"/>
              </a:rPr>
              <a:t>Current achievement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240280"/>
            <a:ext cx="47548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A full donation workflow with role-based dashboards, search filters, pickup requests, status tracking and impact summaries.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74519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BEE080"/>
                </a:solidFill>
                <a:latin typeface="Aptos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240280"/>
            <a:ext cx="493776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Map-based distance and route suggestions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SMS / WhatsApp pickup notifications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Analytics for meals rescued and waste avoided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Cloud deployment and partner onboarding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685800"/>
          </a:xfrm>
          <a:prstGeom prst="roundRect">
            <a:avLst/>
          </a:prstGeom>
          <a:solidFill>
            <a:srgbClr val="25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53712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E080"/>
                </a:solidFill>
                <a:latin typeface="Aptos"/>
              </a:rPr>
              <a:t>SCALABLE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4517136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More donors + more NGOs + smarter matching = a stronger local food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5943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BEE080"/>
                </a:solidFill>
                <a:latin typeface="Apto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6247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Questions &amp;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806440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400" b="0" i="1">
                <a:solidFill>
                  <a:srgbClr val="DBEDDC"/>
                </a:solidFill>
                <a:latin typeface="Aptos"/>
              </a:rPr>
              <a:t>Every meal shared is a step toward less waste.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BEE0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